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j0Q5+X7cvQdTolOwoFshYdwWc/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e14332eade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e14332eade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ge14332eade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" type="subTitle"/>
          </p:nvPr>
        </p:nvSpPr>
        <p:spPr>
          <a:xfrm>
            <a:off x="2961564" y="3777016"/>
            <a:ext cx="6373505" cy="958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>
                <a:solidFill>
                  <a:srgbClr val="3F3F3F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11546006" y="6492875"/>
            <a:ext cx="6459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9"/>
          <p:cNvCxnSpPr/>
          <p:nvPr/>
        </p:nvCxnSpPr>
        <p:spPr>
          <a:xfrm>
            <a:off x="9279031" y="4235851"/>
            <a:ext cx="865471" cy="0"/>
          </a:xfrm>
          <a:prstGeom prst="straightConnector1">
            <a:avLst/>
          </a:prstGeom>
          <a:noFill/>
          <a:ln cap="flat" cmpd="sng" w="762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19"/>
          <p:cNvCxnSpPr/>
          <p:nvPr/>
        </p:nvCxnSpPr>
        <p:spPr>
          <a:xfrm>
            <a:off x="2035431" y="4211003"/>
            <a:ext cx="865471" cy="0"/>
          </a:xfrm>
          <a:prstGeom prst="straightConnector1">
            <a:avLst/>
          </a:prstGeom>
          <a:noFill/>
          <a:ln cap="flat" cmpd="sng" w="762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" name="Google Shape;19;p19"/>
          <p:cNvGrpSpPr/>
          <p:nvPr/>
        </p:nvGrpSpPr>
        <p:grpSpPr>
          <a:xfrm>
            <a:off x="518605" y="1362700"/>
            <a:ext cx="10986448" cy="494518"/>
            <a:chOff x="1346429" y="1011300"/>
            <a:chExt cx="6452100" cy="152400"/>
          </a:xfrm>
        </p:grpSpPr>
        <p:cxnSp>
          <p:nvCxnSpPr>
            <p:cNvPr id="20" name="Google Shape;20;p19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" name="Google Shape;21;p19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" name="Google Shape;22;p19"/>
          <p:cNvGrpSpPr/>
          <p:nvPr/>
        </p:nvGrpSpPr>
        <p:grpSpPr>
          <a:xfrm>
            <a:off x="518616" y="5292133"/>
            <a:ext cx="10986448" cy="494518"/>
            <a:chOff x="1346435" y="3969088"/>
            <a:chExt cx="6452100" cy="152400"/>
          </a:xfrm>
        </p:grpSpPr>
        <p:cxnSp>
          <p:nvCxnSpPr>
            <p:cNvPr id="23" name="Google Shape;23;p19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" name="Google Shape;24;p19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25" name="Google Shape;2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30319" y="77384"/>
            <a:ext cx="2552700" cy="351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0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2" type="sldNum"/>
          </p:nvPr>
        </p:nvSpPr>
        <p:spPr>
          <a:xfrm>
            <a:off x="11582400" y="6492875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" name="Google Shape;3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30319" y="77384"/>
            <a:ext cx="2552700" cy="351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Thank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11450472" y="6492875"/>
            <a:ext cx="7415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22"/>
          <p:cNvSpPr txBox="1"/>
          <p:nvPr>
            <p:ph idx="1" type="body"/>
          </p:nvPr>
        </p:nvSpPr>
        <p:spPr>
          <a:xfrm>
            <a:off x="2416175" y="2511425"/>
            <a:ext cx="7342188" cy="87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b="1" sz="44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2" type="body"/>
          </p:nvPr>
        </p:nvSpPr>
        <p:spPr>
          <a:xfrm>
            <a:off x="2455863" y="3398838"/>
            <a:ext cx="730228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5" name="Google Shape;3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30319" y="77384"/>
            <a:ext cx="2552700" cy="351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/>
          <p:nvPr>
            <p:ph type="title"/>
          </p:nvPr>
        </p:nvSpPr>
        <p:spPr>
          <a:xfrm>
            <a:off x="609600" y="191069"/>
            <a:ext cx="9517039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" type="body"/>
          </p:nvPr>
        </p:nvSpPr>
        <p:spPr>
          <a:xfrm>
            <a:off x="609600" y="1160060"/>
            <a:ext cx="5410200" cy="5322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21"/>
          <p:cNvSpPr txBox="1"/>
          <p:nvPr>
            <p:ph idx="2" type="body"/>
          </p:nvPr>
        </p:nvSpPr>
        <p:spPr>
          <a:xfrm>
            <a:off x="6335973" y="1173707"/>
            <a:ext cx="5410200" cy="5281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11491414" y="6492875"/>
            <a:ext cx="700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" name="Google Shape;4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30319" y="77384"/>
            <a:ext cx="2552700" cy="351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3"/>
          <p:cNvSpPr txBox="1"/>
          <p:nvPr>
            <p:ph type="ctrTitle"/>
          </p:nvPr>
        </p:nvSpPr>
        <p:spPr>
          <a:xfrm>
            <a:off x="914400" y="2947916"/>
            <a:ext cx="10363200" cy="121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" type="subTitle"/>
          </p:nvPr>
        </p:nvSpPr>
        <p:spPr>
          <a:xfrm>
            <a:off x="2961564" y="4336584"/>
            <a:ext cx="6373505" cy="958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>
                <a:solidFill>
                  <a:srgbClr val="3F3F3F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23"/>
          <p:cNvSpPr txBox="1"/>
          <p:nvPr>
            <p:ph idx="12" type="sldNum"/>
          </p:nvPr>
        </p:nvSpPr>
        <p:spPr>
          <a:xfrm>
            <a:off x="11546006" y="6492875"/>
            <a:ext cx="6459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6" name="Google Shape;46;p23"/>
          <p:cNvCxnSpPr/>
          <p:nvPr/>
        </p:nvCxnSpPr>
        <p:spPr>
          <a:xfrm>
            <a:off x="9279031" y="4795419"/>
            <a:ext cx="865471" cy="0"/>
          </a:xfrm>
          <a:prstGeom prst="straightConnector1">
            <a:avLst/>
          </a:prstGeom>
          <a:noFill/>
          <a:ln cap="flat" cmpd="sng" w="762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" name="Google Shape;47;p23"/>
          <p:cNvCxnSpPr/>
          <p:nvPr/>
        </p:nvCxnSpPr>
        <p:spPr>
          <a:xfrm>
            <a:off x="2035431" y="4770571"/>
            <a:ext cx="865471" cy="0"/>
          </a:xfrm>
          <a:prstGeom prst="straightConnector1">
            <a:avLst/>
          </a:prstGeom>
          <a:noFill/>
          <a:ln cap="flat" cmpd="sng" w="762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8" name="Google Shape;48;p23"/>
          <p:cNvGrpSpPr/>
          <p:nvPr/>
        </p:nvGrpSpPr>
        <p:grpSpPr>
          <a:xfrm>
            <a:off x="518616" y="5292133"/>
            <a:ext cx="10986448" cy="494518"/>
            <a:chOff x="1346435" y="3969088"/>
            <a:chExt cx="6452100" cy="152400"/>
          </a:xfrm>
        </p:grpSpPr>
        <p:cxnSp>
          <p:nvCxnSpPr>
            <p:cNvPr id="49" name="Google Shape;49;p23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" name="Google Shape;50;p23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4"/>
          <p:cNvSpPr txBox="1"/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" type="body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4" name="Google Shape;54;p24"/>
          <p:cNvSpPr txBox="1"/>
          <p:nvPr>
            <p:ph idx="12" type="sldNum"/>
          </p:nvPr>
        </p:nvSpPr>
        <p:spPr>
          <a:xfrm>
            <a:off x="11600596" y="6492875"/>
            <a:ext cx="5914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5" name="Google Shape;5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30319" y="77384"/>
            <a:ext cx="2552700" cy="351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5"/>
          <p:cNvSpPr txBox="1"/>
          <p:nvPr>
            <p:ph type="title"/>
          </p:nvPr>
        </p:nvSpPr>
        <p:spPr>
          <a:xfrm>
            <a:off x="609600" y="191069"/>
            <a:ext cx="9598925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" type="body"/>
          </p:nvPr>
        </p:nvSpPr>
        <p:spPr>
          <a:xfrm>
            <a:off x="609599" y="1180271"/>
            <a:ext cx="53863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25"/>
          <p:cNvSpPr txBox="1"/>
          <p:nvPr>
            <p:ph idx="2" type="body"/>
          </p:nvPr>
        </p:nvSpPr>
        <p:spPr>
          <a:xfrm>
            <a:off x="609600" y="1883390"/>
            <a:ext cx="5386388" cy="4626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0" name="Google Shape;60;p25"/>
          <p:cNvSpPr txBox="1"/>
          <p:nvPr>
            <p:ph idx="3" type="body"/>
          </p:nvPr>
        </p:nvSpPr>
        <p:spPr>
          <a:xfrm>
            <a:off x="6192839" y="1166623"/>
            <a:ext cx="5389562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25"/>
          <p:cNvSpPr txBox="1"/>
          <p:nvPr>
            <p:ph idx="4" type="body"/>
          </p:nvPr>
        </p:nvSpPr>
        <p:spPr>
          <a:xfrm>
            <a:off x="6192838" y="1842448"/>
            <a:ext cx="5389562" cy="46402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2" name="Google Shape;62;p25"/>
          <p:cNvSpPr txBox="1"/>
          <p:nvPr>
            <p:ph idx="12" type="sldNum"/>
          </p:nvPr>
        </p:nvSpPr>
        <p:spPr>
          <a:xfrm>
            <a:off x="11600596" y="6492875"/>
            <a:ext cx="5914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3" name="Google Shape;6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30319" y="77384"/>
            <a:ext cx="2552700" cy="351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6"/>
          <p:cNvSpPr txBox="1"/>
          <p:nvPr>
            <p:ph type="title"/>
          </p:nvPr>
        </p:nvSpPr>
        <p:spPr>
          <a:xfrm>
            <a:off x="609600" y="191069"/>
            <a:ext cx="9557982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2" type="sldNum"/>
          </p:nvPr>
        </p:nvSpPr>
        <p:spPr>
          <a:xfrm>
            <a:off x="11464118" y="6492875"/>
            <a:ext cx="7278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7" name="Google Shape;67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30319" y="77384"/>
            <a:ext cx="2552700" cy="351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idx="12" type="sldNum"/>
          </p:nvPr>
        </p:nvSpPr>
        <p:spPr>
          <a:xfrm>
            <a:off x="11546006" y="6492875"/>
            <a:ext cx="6459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0" name="Google Shape;70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30319" y="77384"/>
            <a:ext cx="2552700" cy="351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8"/>
          <p:cNvSpPr txBox="1"/>
          <p:nvPr>
            <p:ph idx="12" type="sldNum"/>
          </p:nvPr>
        </p:nvSpPr>
        <p:spPr>
          <a:xfrm>
            <a:off x="11546006" y="6492875"/>
            <a:ext cx="6459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9"/>
          <p:cNvSpPr txBox="1"/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" type="body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29"/>
          <p:cNvSpPr txBox="1"/>
          <p:nvPr>
            <p:ph idx="2" type="body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11586948" y="6492875"/>
            <a:ext cx="60505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0" name="Google Shape;80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30319" y="77384"/>
            <a:ext cx="2552700" cy="351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0"/>
          <p:cNvSpPr txBox="1"/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/>
          <p:nvPr>
            <p:ph idx="2" type="pic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30"/>
          <p:cNvSpPr txBox="1"/>
          <p:nvPr>
            <p:ph idx="1" type="body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5" name="Google Shape;85;p30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30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30"/>
          <p:cNvSpPr txBox="1"/>
          <p:nvPr>
            <p:ph idx="12" type="sldNum"/>
          </p:nvPr>
        </p:nvSpPr>
        <p:spPr>
          <a:xfrm>
            <a:off x="11586948" y="6492875"/>
            <a:ext cx="60505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8" name="Google Shape;88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30319" y="77384"/>
            <a:ext cx="2552700" cy="351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1"/>
          <p:cNvSpPr txBox="1"/>
          <p:nvPr>
            <p:ph type="title"/>
          </p:nvPr>
        </p:nvSpPr>
        <p:spPr>
          <a:xfrm>
            <a:off x="609600" y="191069"/>
            <a:ext cx="9598925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1"/>
          <p:cNvSpPr txBox="1"/>
          <p:nvPr>
            <p:ph idx="1" type="body"/>
          </p:nvPr>
        </p:nvSpPr>
        <p:spPr>
          <a:xfrm rot="5400000">
            <a:off x="3393744" y="-1624084"/>
            <a:ext cx="540451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31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p31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31"/>
          <p:cNvSpPr txBox="1"/>
          <p:nvPr>
            <p:ph idx="12" type="sldNum"/>
          </p:nvPr>
        </p:nvSpPr>
        <p:spPr>
          <a:xfrm>
            <a:off x="11586948" y="6492875"/>
            <a:ext cx="60505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5" name="Google Shape;9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30319" y="77384"/>
            <a:ext cx="2552700" cy="351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>
  <p:cSld name="標題及物件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2"/>
          <p:cNvSpPr txBox="1"/>
          <p:nvPr>
            <p:ph idx="1" type="body"/>
          </p:nvPr>
        </p:nvSpPr>
        <p:spPr>
          <a:xfrm>
            <a:off x="609600" y="1105469"/>
            <a:ext cx="10972800" cy="53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810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810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32"/>
          <p:cNvSpPr txBox="1"/>
          <p:nvPr>
            <p:ph idx="12" type="sldNum"/>
          </p:nvPr>
        </p:nvSpPr>
        <p:spPr>
          <a:xfrm>
            <a:off x="11461709" y="6425015"/>
            <a:ext cx="730291" cy="4329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32"/>
          <p:cNvSpPr txBox="1"/>
          <p:nvPr>
            <p:ph type="title"/>
          </p:nvPr>
        </p:nvSpPr>
        <p:spPr>
          <a:xfrm>
            <a:off x="609600" y="191069"/>
            <a:ext cx="9612573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0" name="Google Shape;100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30319" y="77384"/>
            <a:ext cx="2552700" cy="351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609600" y="191069"/>
            <a:ext cx="9598925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 b="1" i="0" sz="3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609600" y="1160059"/>
            <a:ext cx="10972800" cy="5404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2" type="sldNum"/>
          </p:nvPr>
        </p:nvSpPr>
        <p:spPr>
          <a:xfrm>
            <a:off x="11586948" y="6492875"/>
            <a:ext cx="60505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19.png"/><Relationship Id="rId6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/>
              <a:t>FINAL HACKATHON</a:t>
            </a:r>
            <a:endParaRPr/>
          </a:p>
        </p:txBody>
      </p:sp>
      <p:sp>
        <p:nvSpPr>
          <p:cNvPr id="106" name="Google Shape;106;p1"/>
          <p:cNvSpPr txBox="1"/>
          <p:nvPr>
            <p:ph idx="1" type="subTitle"/>
          </p:nvPr>
        </p:nvSpPr>
        <p:spPr>
          <a:xfrm>
            <a:off x="2961564" y="3777016"/>
            <a:ext cx="6373505" cy="958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</a:pPr>
            <a:r>
              <a:rPr b="1" lang="en-US"/>
              <a:t>Face and Expression Recognition </a:t>
            </a:r>
            <a:endParaRPr/>
          </a:p>
        </p:txBody>
      </p:sp>
      <p:pic>
        <p:nvPicPr>
          <p:cNvPr descr="A logo with a tree and text&#10;&#10;AI-generated content may be incorrect." id="107" name="Google Shape;107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5075" y="0"/>
            <a:ext cx="2731726" cy="80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"/>
          <p:cNvSpPr txBox="1"/>
          <p:nvPr/>
        </p:nvSpPr>
        <p:spPr>
          <a:xfrm>
            <a:off x="9086102" y="120458"/>
            <a:ext cx="912300" cy="9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800" lIns="27800" spcFirstLastPara="1" rIns="27800" wrap="square" tIns="27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5"/>
              <a:t> </a:t>
            </a:r>
            <a:endParaRPr sz="425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/>
              <a:t>Face Recognition Technology</a:t>
            </a:r>
            <a:endParaRPr/>
          </a:p>
        </p:txBody>
      </p:sp>
      <p:sp>
        <p:nvSpPr>
          <p:cNvPr id="114" name="Google Shape;114;p2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What Is Face Recognition?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Face recognition is a technology capable of identifying or verifying the visual elements of a human face</a:t>
            </a:r>
            <a:endParaRPr/>
          </a:p>
        </p:txBody>
      </p:sp>
      <p:pic>
        <p:nvPicPr>
          <p:cNvPr descr="A logo with a tree and text&#10;&#10;AI-generated content may be incorrect." id="115" name="Google Shape;1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5075" y="0"/>
            <a:ext cx="2731726" cy="80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/>
              <a:t>Practical Applications</a:t>
            </a:r>
            <a:endParaRPr/>
          </a:p>
        </p:txBody>
      </p:sp>
      <p:sp>
        <p:nvSpPr>
          <p:cNvPr id="121" name="Google Shape;121;p3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Security And Surveillance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Law Enforcement &amp; Crime Detection       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Banks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Airports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Online Trading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ATMs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Retail Payments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Unlocking A Device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Access To Buildings/facilities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Hotel Check-ins</a:t>
            </a:r>
            <a:endParaRPr/>
          </a:p>
        </p:txBody>
      </p:sp>
      <p:pic>
        <p:nvPicPr>
          <p:cNvPr descr="A logo with a tree and text&#10;&#10;AI-generated content may be incorrect." id="122" name="Google Shape;1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5075" y="0"/>
            <a:ext cx="2731726" cy="80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/>
              <a:t>Challenge 1 - Face Similarity</a:t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 flipH="1">
            <a:off x="443375" y="2051079"/>
            <a:ext cx="2559744" cy="2536764"/>
          </a:xfrm>
          <a:prstGeom prst="round1Rect">
            <a:avLst>
              <a:gd fmla="val 0" name="adj"/>
            </a:avLst>
          </a:prstGeom>
          <a:solidFill>
            <a:schemeClr val="lt1"/>
          </a:solidFill>
          <a:ln>
            <a:noFill/>
          </a:ln>
          <a:effectLst>
            <a:outerShdw blurRad="50800" rotWithShape="0" algn="ctr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ddress Book" id="129" name="Google Shape;1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015" y="2361790"/>
            <a:ext cx="1915339" cy="1915339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/>
          <p:nvPr/>
        </p:nvSpPr>
        <p:spPr>
          <a:xfrm flipH="1">
            <a:off x="3163984" y="2051079"/>
            <a:ext cx="2559744" cy="2536764"/>
          </a:xfrm>
          <a:prstGeom prst="round1Rect">
            <a:avLst>
              <a:gd fmla="val 0" name="adj"/>
            </a:avLst>
          </a:prstGeom>
          <a:solidFill>
            <a:schemeClr val="lt1"/>
          </a:solidFill>
          <a:ln>
            <a:noFill/>
          </a:ln>
          <a:effectLst>
            <a:outerShdw blurRad="50800" rotWithShape="0" algn="ctr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ddress Book" id="131" name="Google Shape;1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86186" y="2361791"/>
            <a:ext cx="1915339" cy="191533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/>
          <p:nvPr/>
        </p:nvSpPr>
        <p:spPr>
          <a:xfrm>
            <a:off x="6414954" y="2059328"/>
            <a:ext cx="2565764" cy="2536763"/>
          </a:xfrm>
          <a:prstGeom prst="round2DiagRect">
            <a:avLst>
              <a:gd fmla="val 0" name="adj1"/>
              <a:gd fmla="val 0" name="adj2"/>
            </a:avLst>
          </a:prstGeom>
          <a:solidFill>
            <a:schemeClr val="lt1"/>
          </a:solidFill>
          <a:ln>
            <a:noFill/>
          </a:ln>
          <a:effectLst>
            <a:outerShdw blurRad="50800" rotWithShape="0" algn="ctr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ddress Book" id="133" name="Google Shape;13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48420" y="2381305"/>
            <a:ext cx="1892808" cy="189280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"/>
          <p:cNvSpPr/>
          <p:nvPr/>
        </p:nvSpPr>
        <p:spPr>
          <a:xfrm flipH="1" rot="10800000">
            <a:off x="9141583" y="2059327"/>
            <a:ext cx="2559743" cy="2536763"/>
          </a:xfrm>
          <a:prstGeom prst="round1Rect">
            <a:avLst>
              <a:gd fmla="val 0" name="adj"/>
            </a:avLst>
          </a:prstGeom>
          <a:solidFill>
            <a:schemeClr val="lt1"/>
          </a:solidFill>
          <a:ln>
            <a:noFill/>
          </a:ln>
          <a:effectLst>
            <a:outerShdw blurRad="50800" rotWithShape="0" algn="ctr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ddress Book" id="135" name="Google Shape;13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72038" y="2381304"/>
            <a:ext cx="1892808" cy="189280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 txBox="1"/>
          <p:nvPr/>
        </p:nvSpPr>
        <p:spPr>
          <a:xfrm>
            <a:off x="1692662" y="4728529"/>
            <a:ext cx="2743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DISSIMILARITY = 0.89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7694824" y="4728529"/>
            <a:ext cx="2743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DISSIMILARITY = 0.29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219285" y="1802266"/>
            <a:ext cx="5690100" cy="3311100"/>
          </a:xfrm>
          <a:prstGeom prst="rect">
            <a:avLst/>
          </a:prstGeom>
          <a:noFill/>
          <a:ln cap="sq" cmpd="sng" w="9525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6221298" y="1810512"/>
            <a:ext cx="5689955" cy="3311026"/>
          </a:xfrm>
          <a:prstGeom prst="rect">
            <a:avLst/>
          </a:prstGeom>
          <a:noFill/>
          <a:ln cap="sq" cmpd="sng" w="9525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logo with a tree and text&#10;&#10;AI-generated content may be incorrect." id="140" name="Google Shape;140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35075" y="15658"/>
            <a:ext cx="2731726" cy="80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/>
              <a:t>Face Similarity</a:t>
            </a:r>
            <a:endParaRPr/>
          </a:p>
        </p:txBody>
      </p:sp>
      <p:grpSp>
        <p:nvGrpSpPr>
          <p:cNvPr id="146" name="Google Shape;146;p8"/>
          <p:cNvGrpSpPr/>
          <p:nvPr/>
        </p:nvGrpSpPr>
        <p:grpSpPr>
          <a:xfrm>
            <a:off x="3256133" y="1459785"/>
            <a:ext cx="5266076" cy="4662679"/>
            <a:chOff x="0" y="638"/>
            <a:chExt cx="5906181" cy="5229440"/>
          </a:xfrm>
        </p:grpSpPr>
        <p:sp>
          <p:nvSpPr>
            <p:cNvPr id="147" name="Google Shape;147;p8"/>
            <p:cNvSpPr/>
            <p:nvPr/>
          </p:nvSpPr>
          <p:spPr>
            <a:xfrm>
              <a:off x="0" y="638"/>
              <a:ext cx="5906181" cy="1494125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8"/>
            <p:cNvSpPr/>
            <p:nvPr/>
          </p:nvSpPr>
          <p:spPr>
            <a:xfrm>
              <a:off x="451973" y="336816"/>
              <a:ext cx="821769" cy="82176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1725715" y="638"/>
              <a:ext cx="4180465" cy="1494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8"/>
            <p:cNvSpPr txBox="1"/>
            <p:nvPr/>
          </p:nvSpPr>
          <p:spPr>
            <a:xfrm>
              <a:off x="1725715" y="638"/>
              <a:ext cx="4180465" cy="1494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8125" lIns="158125" spcFirstLastPara="1" rIns="158125" wrap="square" tIns="158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venir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BUILD A SIAMESE NETWORK</a:t>
              </a:r>
              <a:endPara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0" y="1868296"/>
              <a:ext cx="5906181" cy="1494125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451973" y="2204474"/>
              <a:ext cx="821769" cy="82176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1725715" y="1868296"/>
              <a:ext cx="4180465" cy="1494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8"/>
            <p:cNvSpPr txBox="1"/>
            <p:nvPr/>
          </p:nvSpPr>
          <p:spPr>
            <a:xfrm>
              <a:off x="1725715" y="1868296"/>
              <a:ext cx="4180465" cy="1494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8125" lIns="158125" spcFirstLastPara="1" rIns="158125" wrap="square" tIns="158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venir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TRAIN AND TEST ON AT&amp;T FACES DATASET</a:t>
              </a:r>
              <a:endPara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0" y="3735953"/>
              <a:ext cx="5906181" cy="1494125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451973" y="4072131"/>
              <a:ext cx="821769" cy="82176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1725715" y="3735953"/>
              <a:ext cx="4180465" cy="1494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8"/>
            <p:cNvSpPr txBox="1"/>
            <p:nvPr/>
          </p:nvSpPr>
          <p:spPr>
            <a:xfrm>
              <a:off x="1725715" y="3735953"/>
              <a:ext cx="4180465" cy="1494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8125" lIns="158125" spcFirstLastPara="1" rIns="158125" wrap="square" tIns="158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venir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DEPLOY AND TEST FOR FACE SIMILARITY SCORE </a:t>
              </a:r>
              <a:endPara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logo with a tree and text&#10;&#10;AI-generated content may be incorrect." id="159" name="Google Shape;159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35075" y="0"/>
            <a:ext cx="2731726" cy="80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/>
              <a:t>Challenge 2 - Face Recognition</a:t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3479286" y="1235216"/>
            <a:ext cx="4812831" cy="5109397"/>
          </a:xfrm>
          <a:prstGeom prst="rect">
            <a:avLst/>
          </a:prstGeom>
          <a:noFill/>
          <a:ln cap="sq" cmpd="sng" w="9525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ddress Book" id="166" name="Google Shape;16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6625" y="1268390"/>
            <a:ext cx="2344099" cy="234409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"/>
          <p:cNvSpPr txBox="1"/>
          <p:nvPr/>
        </p:nvSpPr>
        <p:spPr>
          <a:xfrm>
            <a:off x="3881754" y="3420163"/>
            <a:ext cx="14538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ddress Book" id="168" name="Google Shape;16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2473" y="1279274"/>
            <a:ext cx="2409644" cy="235213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5"/>
          <p:cNvSpPr txBox="1"/>
          <p:nvPr/>
        </p:nvSpPr>
        <p:spPr>
          <a:xfrm>
            <a:off x="6444381" y="3414427"/>
            <a:ext cx="1437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5088797" y="5862138"/>
            <a:ext cx="14310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ddress Book" id="171" name="Google Shape;17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99480" y="3731684"/>
            <a:ext cx="2409644" cy="23521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logo with a tree and text&#10;&#10;AI-generated content may be incorrect." id="172" name="Google Shape;172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35075" y="0"/>
            <a:ext cx="2731726" cy="80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/>
              <a:t>Face Recognition</a:t>
            </a:r>
            <a:endParaRPr/>
          </a:p>
        </p:txBody>
      </p:sp>
      <p:grpSp>
        <p:nvGrpSpPr>
          <p:cNvPr id="178" name="Google Shape;178;p9"/>
          <p:cNvGrpSpPr/>
          <p:nvPr/>
        </p:nvGrpSpPr>
        <p:grpSpPr>
          <a:xfrm>
            <a:off x="3379652" y="1622446"/>
            <a:ext cx="4952645" cy="4385162"/>
            <a:chOff x="0" y="638"/>
            <a:chExt cx="5906181" cy="5229440"/>
          </a:xfrm>
        </p:grpSpPr>
        <p:sp>
          <p:nvSpPr>
            <p:cNvPr id="179" name="Google Shape;179;p9"/>
            <p:cNvSpPr/>
            <p:nvPr/>
          </p:nvSpPr>
          <p:spPr>
            <a:xfrm>
              <a:off x="0" y="638"/>
              <a:ext cx="5906181" cy="1494125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9"/>
            <p:cNvSpPr/>
            <p:nvPr/>
          </p:nvSpPr>
          <p:spPr>
            <a:xfrm>
              <a:off x="451973" y="336816"/>
              <a:ext cx="821769" cy="82176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9"/>
            <p:cNvSpPr/>
            <p:nvPr/>
          </p:nvSpPr>
          <p:spPr>
            <a:xfrm>
              <a:off x="1725715" y="638"/>
              <a:ext cx="4180465" cy="1494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9"/>
            <p:cNvSpPr txBox="1"/>
            <p:nvPr/>
          </p:nvSpPr>
          <p:spPr>
            <a:xfrm>
              <a:off x="1725715" y="638"/>
              <a:ext cx="4180465" cy="1494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8125" lIns="158125" spcFirstLastPara="1" rIns="158125" wrap="square" tIns="158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venir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OBTAIN SIAMESE REPRESENTATION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0" y="1868296"/>
              <a:ext cx="5906181" cy="1494125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451973" y="2204474"/>
              <a:ext cx="821769" cy="82176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1725715" y="1868296"/>
              <a:ext cx="4180465" cy="1494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9"/>
            <p:cNvSpPr txBox="1"/>
            <p:nvPr/>
          </p:nvSpPr>
          <p:spPr>
            <a:xfrm>
              <a:off x="1725715" y="1868296"/>
              <a:ext cx="4180465" cy="1494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8125" lIns="158125" spcFirstLastPara="1" rIns="158125" wrap="square" tIns="158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venir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BUILD A CLASSIFICATION MODEL; TRAIN AND TEST ON TEAM DATA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9"/>
            <p:cNvSpPr/>
            <p:nvPr/>
          </p:nvSpPr>
          <p:spPr>
            <a:xfrm>
              <a:off x="0" y="3735953"/>
              <a:ext cx="5906181" cy="1494125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451973" y="4072131"/>
              <a:ext cx="821769" cy="82176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9"/>
            <p:cNvSpPr/>
            <p:nvPr/>
          </p:nvSpPr>
          <p:spPr>
            <a:xfrm>
              <a:off x="1725715" y="3735953"/>
              <a:ext cx="4180465" cy="1494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9"/>
            <p:cNvSpPr txBox="1"/>
            <p:nvPr/>
          </p:nvSpPr>
          <p:spPr>
            <a:xfrm>
              <a:off x="1725715" y="3735953"/>
              <a:ext cx="4180465" cy="1494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8125" lIns="158125" spcFirstLastPara="1" rIns="158125" wrap="square" tIns="158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venir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DEPLOY AND TEST FOR FACE RECOGNITION LABEL (PERSON 1/2/3) 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logo with a tree and text&#10;&#10;AI-generated content may be incorrect." id="191" name="Google Shape;191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35075" y="0"/>
            <a:ext cx="2731726" cy="80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/>
              <a:t>Challenge 3 - Face Expression Recognition</a:t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3479286" y="1235216"/>
            <a:ext cx="4812831" cy="5109397"/>
          </a:xfrm>
          <a:prstGeom prst="rect">
            <a:avLst/>
          </a:prstGeom>
          <a:noFill/>
          <a:ln cap="sq" cmpd="sng" w="9525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ngel face outline" id="198" name="Google Shape;19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2650" y="1425014"/>
            <a:ext cx="1731196" cy="1731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gry face with solid fill" id="199" name="Google Shape;19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2486" y="1411694"/>
            <a:ext cx="1745573" cy="1731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gry face outline" id="200" name="Google Shape;20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81445" y="3860010"/>
            <a:ext cx="1808512" cy="183726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6"/>
          <p:cNvSpPr txBox="1"/>
          <p:nvPr/>
        </p:nvSpPr>
        <p:spPr>
          <a:xfrm>
            <a:off x="3747333" y="3158787"/>
            <a:ext cx="17265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HAPPY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 txBox="1"/>
          <p:nvPr/>
        </p:nvSpPr>
        <p:spPr>
          <a:xfrm>
            <a:off x="6222486" y="3156210"/>
            <a:ext cx="17455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ANGRY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4981445" y="5756720"/>
            <a:ext cx="18085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logo with a tree and text&#10;&#10;AI-generated content may be incorrect." id="204" name="Google Shape;204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35075" y="0"/>
            <a:ext cx="2731726" cy="80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/>
              <a:t>Face Expression Recognition</a:t>
            </a:r>
            <a:endParaRPr/>
          </a:p>
        </p:txBody>
      </p:sp>
      <p:grpSp>
        <p:nvGrpSpPr>
          <p:cNvPr id="210" name="Google Shape;210;p10"/>
          <p:cNvGrpSpPr/>
          <p:nvPr/>
        </p:nvGrpSpPr>
        <p:grpSpPr>
          <a:xfrm>
            <a:off x="3292709" y="1533105"/>
            <a:ext cx="5043220" cy="4465359"/>
            <a:chOff x="0" y="638"/>
            <a:chExt cx="5906181" cy="5229440"/>
          </a:xfrm>
        </p:grpSpPr>
        <p:sp>
          <p:nvSpPr>
            <p:cNvPr id="211" name="Google Shape;211;p10"/>
            <p:cNvSpPr/>
            <p:nvPr/>
          </p:nvSpPr>
          <p:spPr>
            <a:xfrm>
              <a:off x="0" y="638"/>
              <a:ext cx="5906181" cy="1494125"/>
            </a:xfrm>
            <a:prstGeom prst="roundRect">
              <a:avLst>
                <a:gd fmla="val 10000" name="adj"/>
              </a:avLst>
            </a:prstGeom>
            <a:solidFill>
              <a:srgbClr val="39AF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10"/>
            <p:cNvSpPr/>
            <p:nvPr/>
          </p:nvSpPr>
          <p:spPr>
            <a:xfrm>
              <a:off x="451973" y="336816"/>
              <a:ext cx="821769" cy="82176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10"/>
            <p:cNvSpPr/>
            <p:nvPr/>
          </p:nvSpPr>
          <p:spPr>
            <a:xfrm>
              <a:off x="1725715" y="638"/>
              <a:ext cx="4180465" cy="1494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10"/>
            <p:cNvSpPr txBox="1"/>
            <p:nvPr/>
          </p:nvSpPr>
          <p:spPr>
            <a:xfrm>
              <a:off x="1725715" y="638"/>
              <a:ext cx="4180465" cy="1494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8125" lIns="158125" spcFirstLastPara="1" rIns="158125" wrap="square" tIns="1581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venir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TRAIN A CNN MODEL ON FACIAL EXPRESSION DATA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10"/>
            <p:cNvSpPr/>
            <p:nvPr/>
          </p:nvSpPr>
          <p:spPr>
            <a:xfrm>
              <a:off x="0" y="1868296"/>
              <a:ext cx="5906181" cy="1494125"/>
            </a:xfrm>
            <a:prstGeom prst="roundRect">
              <a:avLst>
                <a:gd fmla="val 10000" name="adj"/>
              </a:avLst>
            </a:prstGeom>
            <a:solidFill>
              <a:srgbClr val="31BD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10"/>
            <p:cNvSpPr/>
            <p:nvPr/>
          </p:nvSpPr>
          <p:spPr>
            <a:xfrm>
              <a:off x="451973" y="2204474"/>
              <a:ext cx="821769" cy="82176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1725715" y="1868296"/>
              <a:ext cx="4180465" cy="1494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0"/>
            <p:cNvSpPr txBox="1"/>
            <p:nvPr/>
          </p:nvSpPr>
          <p:spPr>
            <a:xfrm>
              <a:off x="1725715" y="1868296"/>
              <a:ext cx="4180465" cy="1494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8125" lIns="158125" spcFirstLastPara="1" rIns="158125" wrap="square" tIns="1581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venir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TEST ON EXPRESSION DATA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0"/>
            <p:cNvSpPr/>
            <p:nvPr/>
          </p:nvSpPr>
          <p:spPr>
            <a:xfrm>
              <a:off x="0" y="3735953"/>
              <a:ext cx="5906181" cy="1494125"/>
            </a:xfrm>
            <a:prstGeom prst="roundRect">
              <a:avLst>
                <a:gd fmla="val 10000" name="adj"/>
              </a:avLst>
            </a:prstGeom>
            <a:solidFill>
              <a:srgbClr val="2BB3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0"/>
            <p:cNvSpPr/>
            <p:nvPr/>
          </p:nvSpPr>
          <p:spPr>
            <a:xfrm>
              <a:off x="451973" y="4072131"/>
              <a:ext cx="821769" cy="82176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0"/>
            <p:cNvSpPr/>
            <p:nvPr/>
          </p:nvSpPr>
          <p:spPr>
            <a:xfrm>
              <a:off x="1725715" y="3735953"/>
              <a:ext cx="4180465" cy="1494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0"/>
            <p:cNvSpPr txBox="1"/>
            <p:nvPr/>
          </p:nvSpPr>
          <p:spPr>
            <a:xfrm>
              <a:off x="1725715" y="3735953"/>
              <a:ext cx="4180465" cy="1494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8125" lIns="158125" spcFirstLastPara="1" rIns="158125" wrap="square" tIns="1581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venir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DEPLOY AND TEST FOR FACE EXPRESSION (SAD/HAPPY/ DISGUST/FEAR ETC.) RECOGNITION 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logo with a tree and text&#10;&#10;AI-generated content may be incorrect." id="223" name="Google Shape;223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35075" y="0"/>
            <a:ext cx="2731726" cy="80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/>
              <a:t>Presentation</a:t>
            </a:r>
            <a:endParaRPr/>
          </a:p>
        </p:txBody>
      </p:sp>
      <p:sp>
        <p:nvSpPr>
          <p:cNvPr id="229" name="Google Shape;229;p13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10 minutes Presentation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Highlights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Approaches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Challenges Faced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Learning Outcomes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Teamwork</a:t>
            </a:r>
            <a:endParaRPr/>
          </a:p>
        </p:txBody>
      </p:sp>
      <p:pic>
        <p:nvPicPr>
          <p:cNvPr descr="A logo with a tree and text&#10;&#10;AI-generated content may be incorrect." id="230" name="Google Shape;23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5075" y="0"/>
            <a:ext cx="2731726" cy="80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/>
              <a:t>Grading Points</a:t>
            </a:r>
            <a:endParaRPr/>
          </a:p>
        </p:txBody>
      </p:sp>
      <p:sp>
        <p:nvSpPr>
          <p:cNvPr id="236" name="Google Shape;236;p14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Face Similarity – 10 Marks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Face Recognition – 10 Marks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Expression Recognition – 20 Marks</a:t>
            </a:r>
            <a:endParaRPr/>
          </a:p>
        </p:txBody>
      </p:sp>
      <p:pic>
        <p:nvPicPr>
          <p:cNvPr descr="A logo with a tree and text&#10;&#10;AI-generated content may be incorrect." id="237" name="Google Shape;23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5075" y="0"/>
            <a:ext cx="2731726" cy="80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e14332eade_1_0"/>
          <p:cNvSpPr txBox="1"/>
          <p:nvPr>
            <p:ph type="title"/>
          </p:nvPr>
        </p:nvSpPr>
        <p:spPr>
          <a:xfrm>
            <a:off x="609600" y="191069"/>
            <a:ext cx="95442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Evaluation Criteria</a:t>
            </a:r>
            <a:endParaRPr/>
          </a:p>
        </p:txBody>
      </p:sp>
      <p:sp>
        <p:nvSpPr>
          <p:cNvPr id="244" name="Google Shape;244;ge14332eade_1_0"/>
          <p:cNvSpPr txBox="1"/>
          <p:nvPr>
            <p:ph idx="1" type="body"/>
          </p:nvPr>
        </p:nvSpPr>
        <p:spPr>
          <a:xfrm>
            <a:off x="609600" y="1160060"/>
            <a:ext cx="10972800" cy="53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34375"/>
              <a:buNone/>
            </a:pPr>
            <a:r>
              <a:rPr b="1" lang="en-US">
                <a:solidFill>
                  <a:srgbClr val="4A86E8"/>
                </a:solidFill>
              </a:rPr>
              <a:t>Stage 1: </a:t>
            </a:r>
            <a:endParaRPr b="1">
              <a:solidFill>
                <a:srgbClr val="4A86E8"/>
              </a:solidFill>
            </a:endParaRPr>
          </a:p>
          <a:p>
            <a:pPr indent="-38608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Not for grading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363636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b="1" lang="en-US">
                <a:solidFill>
                  <a:srgbClr val="4A86E8"/>
                </a:solidFill>
              </a:rPr>
              <a:t>Stage 2:  Face Similarity (10 Marks)</a:t>
            </a:r>
            <a:endParaRPr b="1"/>
          </a:p>
          <a:p>
            <a:pPr indent="-38608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Scores for similarity and dissimilarity should predict correctly at least twice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363636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b="1" lang="en-US">
                <a:solidFill>
                  <a:srgbClr val="4A86E8"/>
                </a:solidFill>
              </a:rPr>
              <a:t>Stage 3: Face Recognition Classification (10 Marks)</a:t>
            </a:r>
            <a:endParaRPr b="1"/>
          </a:p>
          <a:p>
            <a:pPr indent="-38608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Three different persons must be correctly predicted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363636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34375"/>
              <a:buNone/>
            </a:pPr>
            <a:r>
              <a:rPr b="1" lang="en-US">
                <a:solidFill>
                  <a:srgbClr val="4A86E8"/>
                </a:solidFill>
              </a:rPr>
              <a:t>Stage 4: Facial Expression (20 Marks)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b="1" lang="en-US"/>
              <a:t>Expression Recognition </a:t>
            </a:r>
            <a:endParaRPr b="1"/>
          </a:p>
          <a:p>
            <a:pPr indent="-38608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Get three different Expressions correctly per person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29032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323231"/>
              <a:buNone/>
            </a:pPr>
            <a:r>
              <a:t/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t/>
            </a:r>
            <a:endParaRPr/>
          </a:p>
        </p:txBody>
      </p:sp>
      <p:pic>
        <p:nvPicPr>
          <p:cNvPr descr="A logo with a tree and text&#10;&#10;AI-generated content may be incorrect." id="245" name="Google Shape;245;ge14332eade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5075" y="0"/>
            <a:ext cx="2731726" cy="80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/>
              <a:t>Guidelines for Hackathon</a:t>
            </a:r>
            <a:endParaRPr/>
          </a:p>
        </p:txBody>
      </p:sp>
      <p:sp>
        <p:nvSpPr>
          <p:cNvPr id="251" name="Google Shape;251;p16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Group activity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Mentor support is also available during the Hackathon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Hackathon starts on </a:t>
            </a:r>
            <a:r>
              <a:rPr b="1" lang="en-US"/>
              <a:t>Saturday @ 9:00 AM </a:t>
            </a:r>
            <a:r>
              <a:rPr lang="en-US"/>
              <a:t>and Hackathon evaluation closes on </a:t>
            </a:r>
            <a:r>
              <a:rPr b="1" lang="en-US"/>
              <a:t>Sunday</a:t>
            </a:r>
            <a:r>
              <a:rPr lang="en-US"/>
              <a:t> </a:t>
            </a:r>
            <a:r>
              <a:rPr b="1" lang="en-US"/>
              <a:t>@ 4:00 PM</a:t>
            </a:r>
            <a:endParaRPr b="1"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Presentation Starts On </a:t>
            </a:r>
            <a:r>
              <a:rPr b="1" lang="en-US"/>
              <a:t>Sunday</a:t>
            </a:r>
            <a:r>
              <a:rPr lang="en-US"/>
              <a:t> @ 4pm</a:t>
            </a:r>
            <a:endParaRPr b="1"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Hackathon (incl. Presentation) is graded for </a:t>
            </a:r>
            <a:r>
              <a:rPr b="1" lang="en-US"/>
              <a:t>50 marks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/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A logo with a tree and text&#10;&#10;AI-generated content may be incorrect." id="252" name="Google Shape;25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5075" y="0"/>
            <a:ext cx="2731726" cy="80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7"/>
          <p:cNvSpPr txBox="1"/>
          <p:nvPr>
            <p:ph idx="1" type="body"/>
          </p:nvPr>
        </p:nvSpPr>
        <p:spPr>
          <a:xfrm>
            <a:off x="2416175" y="2511425"/>
            <a:ext cx="7342188" cy="87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</a:pPr>
            <a:r>
              <a:rPr lang="en-US"/>
              <a:t>Thanks!!</a:t>
            </a:r>
            <a:endParaRPr/>
          </a:p>
        </p:txBody>
      </p:sp>
      <p:sp>
        <p:nvSpPr>
          <p:cNvPr id="258" name="Google Shape;258;p17"/>
          <p:cNvSpPr txBox="1"/>
          <p:nvPr>
            <p:ph idx="2" type="body"/>
          </p:nvPr>
        </p:nvSpPr>
        <p:spPr>
          <a:xfrm>
            <a:off x="2455863" y="3398838"/>
            <a:ext cx="730228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All the Best</a:t>
            </a:r>
            <a:endParaRPr/>
          </a:p>
        </p:txBody>
      </p:sp>
      <p:pic>
        <p:nvPicPr>
          <p:cNvPr descr="A logo with a tree and text&#10;&#10;AI-generated content may be incorrect." id="259" name="Google Shape;25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5075" y="0"/>
            <a:ext cx="2731726" cy="80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IML_Templatev5_08312018">
  <a:themeElements>
    <a:clrScheme name="AIML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EF6C00"/>
      </a:accent1>
      <a:accent2>
        <a:srgbClr val="632423"/>
      </a:accent2>
      <a:accent3>
        <a:srgbClr val="4F6128"/>
      </a:accent3>
      <a:accent4>
        <a:srgbClr val="3F3151"/>
      </a:accent4>
      <a:accent5>
        <a:srgbClr val="205867"/>
      </a:accent5>
      <a:accent6>
        <a:srgbClr val="974806"/>
      </a:accent6>
      <a:hlink>
        <a:srgbClr val="00007F"/>
      </a:hlink>
      <a:folHlink>
        <a:srgbClr val="3F004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2020-03-04T06:49:24Z</dcterms:created>
  <dc:creator>tsuser</dc:creator>
</cp:coreProperties>
</file>